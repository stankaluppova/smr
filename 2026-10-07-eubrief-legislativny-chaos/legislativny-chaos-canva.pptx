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inka"/>
          <p:cNvSpPr/>
          <p:nvPr/>
        </p:nvSpPr>
        <p:spPr>
          <a:xfrm>
            <a:off x="1397000" y="355600"/>
            <a:ext cx="609600" cy="50800"/>
          </a:xfrm>
          <a:prstGeom prst="rect">
            <a:avLst/>
          </a:prstGeom>
          <a:solidFill>
            <a:srgbClr val="C4472F"/>
          </a:solidFill>
          <a:ln w="12700">
            <a:solidFill>
              <a:srgbClr val="C4472F"/>
            </a:solidFill>
            <a:prstDash val="solid"/>
          </a:ln>
        </p:spPr>
      </p:sp>
      <p:sp>
        <p:nvSpPr>
          <p:cNvPr id="3" name="Nadpis"/>
          <p:cNvSpPr txBox="1"/>
          <p:nvPr/>
        </p:nvSpPr>
        <p:spPr>
          <a:xfrm>
            <a:off x="1397000" y="508000"/>
            <a:ext cx="9398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Legislatívny chaos v číslach</a:t>
            </a:r>
            <a:endParaRPr lang="en-US" sz="3000" dirty="0"/>
          </a:p>
        </p:txBody>
      </p:sp>
      <p:sp>
        <p:nvSpPr>
          <p:cNvPr id="4" name="Podnadpis"/>
          <p:cNvSpPr txBox="1"/>
          <p:nvPr/>
        </p:nvSpPr>
        <p:spPr>
          <a:xfrm>
            <a:off x="1397000" y="1009650"/>
            <a:ext cx="939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F3A4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Čo zaznelo na euBrief fóre Konkurencieschopnosť 2026, podopreté dátami</a:t>
            </a:r>
            <a:endParaRPr lang="en-US" sz="1250" dirty="0"/>
          </a:p>
        </p:txBody>
      </p:sp>
      <p:sp>
        <p:nvSpPr>
          <p:cNvPr id="5" name="Deliaca linka zvislá"/>
          <p:cNvSpPr/>
          <p:nvPr/>
        </p:nvSpPr>
        <p:spPr>
          <a:xfrm>
            <a:off x="4813300" y="1454150"/>
            <a:ext cx="0" cy="4775200"/>
          </a:xfrm>
          <a:prstGeom prst="line">
            <a:avLst/>
          </a:prstGeom>
          <a:noFill/>
          <a:ln w="12700">
            <a:solidFill>
              <a:srgbClr val="E2DDD2"/>
            </a:solidFill>
            <a:prstDash val="solid"/>
          </a:ln>
        </p:spPr>
      </p:sp>
      <p:sp>
        <p:nvSpPr>
          <p:cNvPr id="6" name="Deliaca linka vodorovná"/>
          <p:cNvSpPr/>
          <p:nvPr/>
        </p:nvSpPr>
        <p:spPr>
          <a:xfrm>
            <a:off x="4826000" y="3829050"/>
            <a:ext cx="5969000" cy="0"/>
          </a:xfrm>
          <a:prstGeom prst="line">
            <a:avLst/>
          </a:prstGeom>
          <a:noFill/>
          <a:ln w="12700">
            <a:solidFill>
              <a:srgbClr val="E2DDD2"/>
            </a:solidFill>
            <a:prstDash val="solid"/>
          </a:ln>
        </p:spPr>
      </p:sp>
      <p:sp>
        <p:nvSpPr>
          <p:cNvPr id="7" name="Číslo 9"/>
          <p:cNvSpPr txBox="1"/>
          <p:nvPr/>
        </p:nvSpPr>
        <p:spPr>
          <a:xfrm>
            <a:off x="1397000" y="2120900"/>
            <a:ext cx="1206500" cy="260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0" b="1" dirty="0">
                <a:solidFill>
                  <a:srgbClr val="C4472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9</a:t>
            </a:r>
            <a:endParaRPr lang="en-US" sz="16500" dirty="0"/>
          </a:p>
        </p:txBody>
      </p:sp>
      <p:sp>
        <p:nvSpPr>
          <p:cNvPr id="8" name="Jednotka -krát"/>
          <p:cNvSpPr txBox="1"/>
          <p:nvPr/>
        </p:nvSpPr>
        <p:spPr>
          <a:xfrm>
            <a:off x="2501900" y="33401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5940" b="1" dirty="0">
                <a:solidFill>
                  <a:srgbClr val="C4472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-krát</a:t>
            </a:r>
            <a:endParaRPr lang="en-US" sz="5940" dirty="0"/>
          </a:p>
        </p:txBody>
      </p:sp>
      <p:sp>
        <p:nvSpPr>
          <p:cNvPr id="9" name="Text 9-krát"/>
          <p:cNvSpPr txBox="1"/>
          <p:nvPr/>
        </p:nvSpPr>
        <p:spPr>
          <a:xfrm>
            <a:off x="1397000" y="4451350"/>
            <a:ext cx="3175000" cy="984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F3A4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sa vlani novelizoval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zákon o dani z príjmov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F3A4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. Od 90. rokov sa mení v priemere šesťkrát ročne.</a:t>
            </a:r>
            <a:endParaRPr lang="en-US" sz="1600" dirty="0"/>
          </a:p>
        </p:txBody>
      </p:sp>
      <p:sp>
        <p:nvSpPr>
          <p:cNvPr id="10" name="Číslo 60 %"/>
          <p:cNvSpPr txBox="1"/>
          <p:nvPr/>
        </p:nvSpPr>
        <p:spPr>
          <a:xfrm>
            <a:off x="5181600" y="1619250"/>
            <a:ext cx="92075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590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60</a:t>
            </a:r>
            <a:endParaRPr lang="en-US" sz="5900" dirty="0"/>
          </a:p>
        </p:txBody>
      </p:sp>
      <p:sp>
        <p:nvSpPr>
          <p:cNvPr id="11" name="Jednotka 60 %"/>
          <p:cNvSpPr txBox="1"/>
          <p:nvPr/>
        </p:nvSpPr>
        <p:spPr>
          <a:xfrm>
            <a:off x="5988050" y="2016125"/>
            <a:ext cx="520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8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%</a:t>
            </a:r>
            <a:endParaRPr lang="en-US" sz="2480" dirty="0"/>
          </a:p>
        </p:txBody>
      </p:sp>
      <p:sp>
        <p:nvSpPr>
          <p:cNvPr id="12" name="Text 60 %"/>
          <p:cNvSpPr txBox="1"/>
          <p:nvPr/>
        </p:nvSpPr>
        <p:spPr>
          <a:xfrm>
            <a:off x="5181600" y="2482850"/>
            <a:ext cx="241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F3A4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zákonov prijala vláda v prvých siedmich mesiacoch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v skrátenom konaní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F3A4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. Počas pandémie to bolo 48 percent.</a:t>
            </a:r>
            <a:endParaRPr lang="en-US" sz="1200" dirty="0"/>
          </a:p>
        </p:txBody>
      </p:sp>
      <p:sp>
        <p:nvSpPr>
          <p:cNvPr id="13" name="Číslo 120-tisíc"/>
          <p:cNvSpPr txBox="1"/>
          <p:nvPr/>
        </p:nvSpPr>
        <p:spPr>
          <a:xfrm>
            <a:off x="8166100" y="1619250"/>
            <a:ext cx="130175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590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120</a:t>
            </a:r>
            <a:endParaRPr lang="en-US" sz="5900" dirty="0"/>
          </a:p>
        </p:txBody>
      </p:sp>
      <p:sp>
        <p:nvSpPr>
          <p:cNvPr id="14" name="Jednotka 120-tisíc"/>
          <p:cNvSpPr txBox="1"/>
          <p:nvPr/>
        </p:nvSpPr>
        <p:spPr>
          <a:xfrm>
            <a:off x="9353550" y="2016125"/>
            <a:ext cx="9334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8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-tisíc</a:t>
            </a:r>
            <a:endParaRPr lang="en-US" sz="2480" dirty="0"/>
          </a:p>
        </p:txBody>
      </p:sp>
      <p:sp>
        <p:nvSpPr>
          <p:cNvPr id="15" name="Text 120-tisíc"/>
          <p:cNvSpPr txBox="1"/>
          <p:nvPr/>
        </p:nvSpPr>
        <p:spPr>
          <a:xfrm>
            <a:off x="8166100" y="2482850"/>
            <a:ext cx="241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F3A4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slov má dnes zákon o dani z príjmov. V 90. rokoch ich mal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desaťkrát menej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F3A4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.</a:t>
            </a:r>
            <a:endParaRPr lang="en-US" sz="1200" dirty="0"/>
          </a:p>
        </p:txBody>
      </p:sp>
      <p:sp>
        <p:nvSpPr>
          <p:cNvPr id="16" name="Číslo 3 sadzby DPH"/>
          <p:cNvSpPr txBox="1"/>
          <p:nvPr/>
        </p:nvSpPr>
        <p:spPr>
          <a:xfrm>
            <a:off x="5181600" y="4083050"/>
            <a:ext cx="5334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590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3</a:t>
            </a:r>
            <a:endParaRPr lang="en-US" sz="5900" dirty="0"/>
          </a:p>
        </p:txBody>
      </p:sp>
      <p:sp>
        <p:nvSpPr>
          <p:cNvPr id="17" name="Text 3 sadzby DPH"/>
          <p:cNvSpPr txBox="1"/>
          <p:nvPr/>
        </p:nvSpPr>
        <p:spPr>
          <a:xfrm>
            <a:off x="5181600" y="4946650"/>
            <a:ext cx="241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sadzby DPH na jednom obede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F3A4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: jedlo v reštaurácii 5 percent, minerálka 19, pivo 23.</a:t>
            </a:r>
            <a:endParaRPr lang="en-US" sz="1200" dirty="0"/>
          </a:p>
        </p:txBody>
      </p:sp>
      <p:sp>
        <p:nvSpPr>
          <p:cNvPr id="18" name="Číslo 70 %"/>
          <p:cNvSpPr txBox="1"/>
          <p:nvPr/>
        </p:nvSpPr>
        <p:spPr>
          <a:xfrm>
            <a:off x="8166100" y="4083050"/>
            <a:ext cx="92075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5900" b="1" dirty="0">
                <a:solidFill>
                  <a:srgbClr val="C4472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70</a:t>
            </a:r>
            <a:endParaRPr lang="en-US" sz="5900" dirty="0"/>
          </a:p>
        </p:txBody>
      </p:sp>
      <p:sp>
        <p:nvSpPr>
          <p:cNvPr id="19" name="Jednotka 70 %"/>
          <p:cNvSpPr txBox="1"/>
          <p:nvPr/>
        </p:nvSpPr>
        <p:spPr>
          <a:xfrm>
            <a:off x="8972550" y="4479925"/>
            <a:ext cx="520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80" b="1" dirty="0">
                <a:solidFill>
                  <a:srgbClr val="C4472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%</a:t>
            </a:r>
            <a:endParaRPr lang="en-US" sz="2480" dirty="0"/>
          </a:p>
        </p:txBody>
      </p:sp>
      <p:sp>
        <p:nvSpPr>
          <p:cNvPr id="20" name="Text 70 %"/>
          <p:cNvSpPr txBox="1"/>
          <p:nvPr/>
        </p:nvSpPr>
        <p:spPr>
          <a:xfrm>
            <a:off x="8166100" y="4946650"/>
            <a:ext cx="241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F3A4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slovenských podnikov odrádza nestabilita a regulácia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od dlhodobých investícií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F3A4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.</a:t>
            </a:r>
            <a:endParaRPr lang="en-US" sz="1200" dirty="0"/>
          </a:p>
        </p:txBody>
      </p:sp>
      <p:sp>
        <p:nvSpPr>
          <p:cNvPr id="21" name="Pätička – linka"/>
          <p:cNvSpPr/>
          <p:nvPr/>
        </p:nvSpPr>
        <p:spPr>
          <a:xfrm>
            <a:off x="1397000" y="6305550"/>
            <a:ext cx="9398000" cy="0"/>
          </a:xfrm>
          <a:prstGeom prst="line">
            <a:avLst/>
          </a:prstGeom>
          <a:noFill/>
          <a:ln w="9525">
            <a:solidFill>
              <a:srgbClr val="E2DDD2"/>
            </a:solidFill>
            <a:prstDash val="solid"/>
          </a:ln>
        </p:spPr>
      </p:sp>
      <p:sp>
        <p:nvSpPr>
          <p:cNvPr id="22" name="Pätička – zdroje"/>
          <p:cNvSpPr txBox="1"/>
          <p:nvPr/>
        </p:nvSpPr>
        <p:spPr>
          <a:xfrm>
            <a:off x="1397000" y="6400800"/>
            <a:ext cx="698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Zdroje: Klub 500, Via Iuris, Finančná správa SR, prieskum Európskej investičnej banky</a:t>
            </a:r>
            <a:endParaRPr lang="en-US" sz="950" dirty="0"/>
          </a:p>
        </p:txBody>
      </p:sp>
      <p:sp>
        <p:nvSpPr>
          <p:cNvPr id="23" name="Pätička – podpis"/>
          <p:cNvSpPr txBox="1"/>
          <p:nvPr/>
        </p:nvSpPr>
        <p:spPr>
          <a:xfrm>
            <a:off x="8255000" y="63754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euBrief, Canva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Legislatívny chaos v číslach</dc:title>
  <dc:subject>PptxGenJS Presentation</dc:subject>
  <dc:creator>PptxGenJS</dc:creator>
  <cp:lastModifiedBy>PptxGenJS</cp:lastModifiedBy>
  <cp:revision>1</cp:revision>
  <dcterms:created xsi:type="dcterms:W3CDTF">2026-10-08T07:44:07Z</dcterms:created>
  <dcterms:modified xsi:type="dcterms:W3CDTF">2026-10-08T07:44:07Z</dcterms:modified>
</cp:coreProperties>
</file>