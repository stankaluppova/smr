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ka"/>
          <p:cNvSpPr/>
          <p:nvPr/>
        </p:nvSpPr>
        <p:spPr>
          <a:xfrm>
            <a:off x="1397000" y="355600"/>
            <a:ext cx="609600" cy="50800"/>
          </a:xfrm>
          <a:prstGeom prst="rect">
            <a:avLst/>
          </a:prstGeom>
          <a:solidFill>
            <a:srgbClr val="C4472F"/>
          </a:solidFill>
          <a:ln w="12700">
            <a:solidFill>
              <a:srgbClr val="C4472F"/>
            </a:solidFill>
            <a:prstDash val="solid"/>
          </a:ln>
        </p:spPr>
      </p:sp>
      <p:sp>
        <p:nvSpPr>
          <p:cNvPr id="3" name="Nadpis"/>
          <p:cNvSpPr txBox="1"/>
          <p:nvPr/>
        </p:nvSpPr>
        <p:spPr>
          <a:xfrm>
            <a:off x="1397000" y="508000"/>
            <a:ext cx="939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Čo zaznelo na euBrief fóre</a:t>
            </a:r>
            <a:endParaRPr lang="en-US" sz="2800" dirty="0"/>
          </a:p>
        </p:txBody>
      </p:sp>
      <p:sp>
        <p:nvSpPr>
          <p:cNvPr id="4" name="Podnadpis"/>
          <p:cNvSpPr txBox="1"/>
          <p:nvPr/>
        </p:nvSpPr>
        <p:spPr>
          <a:xfrm>
            <a:off x="1397000" y="982960"/>
            <a:ext cx="939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Panel Ako oživiť stredoeurópskeho tigra, euBrief Forum: Konkurencieschopnosť 2026</a:t>
            </a:r>
            <a:endParaRPr lang="en-US" sz="1250" dirty="0"/>
          </a:p>
        </p:txBody>
      </p:sp>
      <p:sp>
        <p:nvSpPr>
          <p:cNvPr id="5" name="Citát 1 – linka"/>
          <p:cNvSpPr/>
          <p:nvPr/>
        </p:nvSpPr>
        <p:spPr>
          <a:xfrm>
            <a:off x="1397000" y="1493738"/>
            <a:ext cx="2929434" cy="0"/>
          </a:xfrm>
          <a:prstGeom prst="line">
            <a:avLst/>
          </a:prstGeom>
          <a:noFill/>
          <a:ln w="19050">
            <a:solidFill>
              <a:srgbClr val="E2DDD2"/>
            </a:solidFill>
            <a:prstDash val="solid"/>
          </a:ln>
        </p:spPr>
      </p:sp>
      <p:sp>
        <p:nvSpPr>
          <p:cNvPr id="6" name="Citát 1 – fotka"/>
          <p:cNvSpPr/>
          <p:nvPr/>
        </p:nvSpPr>
        <p:spPr>
          <a:xfrm>
            <a:off x="1397000" y="1646138"/>
            <a:ext cx="863600" cy="863600"/>
          </a:xfrm>
          <a:prstGeom prst="ellipse">
            <a:avLst/>
          </a:prstGeom>
          <a:solidFill>
            <a:srgbClr val="E7E1D4"/>
          </a:solidFill>
          <a:ln w="12700">
            <a:solidFill>
              <a:srgbClr val="B9B09E"/>
            </a:solidFill>
            <a:prstDash val="dash"/>
          </a:ln>
        </p:spPr>
      </p:sp>
      <p:sp>
        <p:nvSpPr>
          <p:cNvPr id="7" name="Citát 1 – iniciály"/>
          <p:cNvSpPr txBox="1"/>
          <p:nvPr/>
        </p:nvSpPr>
        <p:spPr>
          <a:xfrm>
            <a:off x="1397000" y="1646138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907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ĽA</a:t>
            </a:r>
            <a:endParaRPr lang="en-US" sz="1700" dirty="0"/>
          </a:p>
        </p:txBody>
      </p:sp>
      <p:sp>
        <p:nvSpPr>
          <p:cNvPr id="8" name="Citát 1 – úvodzovky"/>
          <p:cNvSpPr txBox="1"/>
          <p:nvPr/>
        </p:nvSpPr>
        <p:spPr>
          <a:xfrm>
            <a:off x="2374900" y="1214338"/>
            <a:ext cx="7620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„</a:t>
            </a:r>
            <a:endParaRPr lang="en-US" sz="8500" dirty="0"/>
          </a:p>
        </p:txBody>
      </p:sp>
      <p:sp>
        <p:nvSpPr>
          <p:cNvPr id="9" name="Citát 1 – text"/>
          <p:cNvSpPr txBox="1"/>
          <p:nvPr/>
        </p:nvSpPr>
        <p:spPr>
          <a:xfrm>
            <a:off x="2413000" y="2039838"/>
            <a:ext cx="1913434" cy="9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Veď my sme tie peniaze na druhý deň, ešte sme ich ani nemali, prejedli.</a:t>
            </a:r>
            <a:endParaRPr lang="en-US" sz="1350" dirty="0"/>
          </a:p>
        </p:txBody>
      </p:sp>
      <p:sp>
        <p:nvSpPr>
          <p:cNvPr id="10" name="Citát 1 – meno"/>
          <p:cNvSpPr txBox="1"/>
          <p:nvPr/>
        </p:nvSpPr>
        <p:spPr>
          <a:xfrm>
            <a:off x="2413000" y="3733800"/>
            <a:ext cx="191343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Ľubomír Andrassy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predseda Najvyššieho kontrolného úradu, o výnose z konsolidácie</a:t>
            </a:r>
            <a:endParaRPr lang="en-US" sz="1050" dirty="0"/>
          </a:p>
        </p:txBody>
      </p:sp>
      <p:sp>
        <p:nvSpPr>
          <p:cNvPr id="11" name="Citát 2 – linka"/>
          <p:cNvSpPr/>
          <p:nvPr/>
        </p:nvSpPr>
        <p:spPr>
          <a:xfrm>
            <a:off x="4631234" y="1493738"/>
            <a:ext cx="2929434" cy="0"/>
          </a:xfrm>
          <a:prstGeom prst="line">
            <a:avLst/>
          </a:prstGeom>
          <a:noFill/>
          <a:ln w="19050">
            <a:solidFill>
              <a:srgbClr val="E2DDD2"/>
            </a:solidFill>
            <a:prstDash val="solid"/>
          </a:ln>
        </p:spPr>
      </p:sp>
      <p:sp>
        <p:nvSpPr>
          <p:cNvPr id="12" name="Citát 2 – fotka"/>
          <p:cNvSpPr/>
          <p:nvPr/>
        </p:nvSpPr>
        <p:spPr>
          <a:xfrm>
            <a:off x="4631234" y="1646138"/>
            <a:ext cx="863600" cy="863600"/>
          </a:xfrm>
          <a:prstGeom prst="ellipse">
            <a:avLst/>
          </a:prstGeom>
          <a:solidFill>
            <a:srgbClr val="E7E1D4"/>
          </a:solidFill>
          <a:ln w="12700">
            <a:solidFill>
              <a:srgbClr val="B9B09E"/>
            </a:solidFill>
            <a:prstDash val="dash"/>
          </a:ln>
        </p:spPr>
      </p:sp>
      <p:sp>
        <p:nvSpPr>
          <p:cNvPr id="13" name="Citát 2 – iniciály"/>
          <p:cNvSpPr txBox="1"/>
          <p:nvPr/>
        </p:nvSpPr>
        <p:spPr>
          <a:xfrm>
            <a:off x="4631234" y="1646138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907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ZM</a:t>
            </a:r>
            <a:endParaRPr lang="en-US" sz="1700" dirty="0"/>
          </a:p>
        </p:txBody>
      </p:sp>
      <p:sp>
        <p:nvSpPr>
          <p:cNvPr id="14" name="Citát 2 – úvodzovky"/>
          <p:cNvSpPr txBox="1"/>
          <p:nvPr/>
        </p:nvSpPr>
        <p:spPr>
          <a:xfrm>
            <a:off x="5609134" y="1214338"/>
            <a:ext cx="7620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„</a:t>
            </a:r>
            <a:endParaRPr lang="en-US" sz="8500" dirty="0"/>
          </a:p>
        </p:txBody>
      </p:sp>
      <p:sp>
        <p:nvSpPr>
          <p:cNvPr id="15" name="Citát 2 – text"/>
          <p:cNvSpPr txBox="1"/>
          <p:nvPr/>
        </p:nvSpPr>
        <p:spPr>
          <a:xfrm>
            <a:off x="5647234" y="2039838"/>
            <a:ext cx="1913434" cy="178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Štyri miliardy ročne znamenajú osem krajských nemocníc. A to budeme každý rok len tak vyhadzovať do luftu.</a:t>
            </a:r>
            <a:endParaRPr lang="en-US" sz="1350" dirty="0"/>
          </a:p>
        </p:txBody>
      </p:sp>
      <p:sp>
        <p:nvSpPr>
          <p:cNvPr id="16" name="Citát 2 – meno"/>
          <p:cNvSpPr txBox="1"/>
          <p:nvPr/>
        </p:nvSpPr>
        <p:spPr>
          <a:xfrm>
            <a:off x="5647234" y="3733800"/>
            <a:ext cx="191343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Zuzana Múčka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Rada pre rozpočtovú zodpovednosť, o úrokoch štátu</a:t>
            </a:r>
            <a:endParaRPr lang="en-US" sz="1050" dirty="0"/>
          </a:p>
        </p:txBody>
      </p:sp>
      <p:sp>
        <p:nvSpPr>
          <p:cNvPr id="17" name="Citát 3 – linka"/>
          <p:cNvSpPr/>
          <p:nvPr/>
        </p:nvSpPr>
        <p:spPr>
          <a:xfrm>
            <a:off x="7865467" y="1493738"/>
            <a:ext cx="2929533" cy="0"/>
          </a:xfrm>
          <a:prstGeom prst="line">
            <a:avLst/>
          </a:prstGeom>
          <a:noFill/>
          <a:ln w="19050">
            <a:solidFill>
              <a:srgbClr val="E2DDD2"/>
            </a:solidFill>
            <a:prstDash val="solid"/>
          </a:ln>
        </p:spPr>
      </p:sp>
      <p:sp>
        <p:nvSpPr>
          <p:cNvPr id="18" name="Citát 3 – fotka"/>
          <p:cNvSpPr/>
          <p:nvPr/>
        </p:nvSpPr>
        <p:spPr>
          <a:xfrm>
            <a:off x="7865467" y="1646138"/>
            <a:ext cx="863600" cy="863600"/>
          </a:xfrm>
          <a:prstGeom prst="ellipse">
            <a:avLst/>
          </a:prstGeom>
          <a:solidFill>
            <a:srgbClr val="E7E1D4"/>
          </a:solidFill>
          <a:ln w="12700">
            <a:solidFill>
              <a:srgbClr val="B9B09E"/>
            </a:solidFill>
            <a:prstDash val="dash"/>
          </a:ln>
        </p:spPr>
      </p:sp>
      <p:sp>
        <p:nvSpPr>
          <p:cNvPr id="19" name="Citát 3 – iniciály"/>
          <p:cNvSpPr txBox="1"/>
          <p:nvPr/>
        </p:nvSpPr>
        <p:spPr>
          <a:xfrm>
            <a:off x="7865467" y="1646138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907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DM</a:t>
            </a:r>
            <a:endParaRPr lang="en-US" sz="1700" dirty="0"/>
          </a:p>
        </p:txBody>
      </p:sp>
      <p:sp>
        <p:nvSpPr>
          <p:cNvPr id="20" name="Citát 3 – úvodzovky"/>
          <p:cNvSpPr txBox="1"/>
          <p:nvPr/>
        </p:nvSpPr>
        <p:spPr>
          <a:xfrm>
            <a:off x="8843367" y="1214338"/>
            <a:ext cx="7620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„</a:t>
            </a:r>
            <a:endParaRPr lang="en-US" sz="8500" dirty="0"/>
          </a:p>
        </p:txBody>
      </p:sp>
      <p:sp>
        <p:nvSpPr>
          <p:cNvPr id="21" name="Citát 3 – text"/>
          <p:cNvSpPr txBox="1"/>
          <p:nvPr/>
        </p:nvSpPr>
        <p:spPr>
          <a:xfrm>
            <a:off x="8881467" y="2039838"/>
            <a:ext cx="1913533" cy="1787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Zákon o dani z príjmov sa v priemere novelizoval šesťkrát ročne. Minulý rok deväťkrát. Tak ako si to má tá firma vypočítať?</a:t>
            </a:r>
            <a:endParaRPr lang="en-US" sz="1350" dirty="0"/>
          </a:p>
        </p:txBody>
      </p:sp>
      <p:sp>
        <p:nvSpPr>
          <p:cNvPr id="22" name="Citát 3 – meno"/>
          <p:cNvSpPr txBox="1"/>
          <p:nvPr/>
        </p:nvSpPr>
        <p:spPr>
          <a:xfrm>
            <a:off x="8881467" y="3733800"/>
            <a:ext cx="19135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Diana Motúzová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analytička Klubu 500</a:t>
            </a:r>
            <a:endParaRPr lang="en-US" sz="1050" dirty="0"/>
          </a:p>
        </p:txBody>
      </p:sp>
      <p:sp>
        <p:nvSpPr>
          <p:cNvPr id="23" name="Citát 4 – linka"/>
          <p:cNvSpPr/>
          <p:nvPr/>
        </p:nvSpPr>
        <p:spPr>
          <a:xfrm>
            <a:off x="1397000" y="4426942"/>
            <a:ext cx="4546600" cy="0"/>
          </a:xfrm>
          <a:prstGeom prst="line">
            <a:avLst/>
          </a:prstGeom>
          <a:noFill/>
          <a:ln w="19050">
            <a:solidFill>
              <a:srgbClr val="E2DDD2"/>
            </a:solidFill>
            <a:prstDash val="solid"/>
          </a:ln>
        </p:spPr>
      </p:sp>
      <p:sp>
        <p:nvSpPr>
          <p:cNvPr id="24" name="Citát 4 – fotka"/>
          <p:cNvSpPr/>
          <p:nvPr/>
        </p:nvSpPr>
        <p:spPr>
          <a:xfrm>
            <a:off x="1397000" y="4579342"/>
            <a:ext cx="863600" cy="863600"/>
          </a:xfrm>
          <a:prstGeom prst="ellipse">
            <a:avLst/>
          </a:prstGeom>
          <a:solidFill>
            <a:srgbClr val="E7E1D4"/>
          </a:solidFill>
          <a:ln w="12700">
            <a:solidFill>
              <a:srgbClr val="B9B09E"/>
            </a:solidFill>
            <a:prstDash val="dash"/>
          </a:ln>
        </p:spPr>
      </p:sp>
      <p:sp>
        <p:nvSpPr>
          <p:cNvPr id="25" name="Citát 4 – iniciály"/>
          <p:cNvSpPr txBox="1"/>
          <p:nvPr/>
        </p:nvSpPr>
        <p:spPr>
          <a:xfrm>
            <a:off x="1397000" y="4579342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907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MV</a:t>
            </a:r>
            <a:endParaRPr lang="en-US" sz="1700" dirty="0"/>
          </a:p>
        </p:txBody>
      </p:sp>
      <p:sp>
        <p:nvSpPr>
          <p:cNvPr id="26" name="Citát 4 – úvodzovky"/>
          <p:cNvSpPr txBox="1"/>
          <p:nvPr/>
        </p:nvSpPr>
        <p:spPr>
          <a:xfrm>
            <a:off x="2374900" y="4147542"/>
            <a:ext cx="7620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„</a:t>
            </a:r>
            <a:endParaRPr lang="en-US" sz="8500" dirty="0"/>
          </a:p>
        </p:txBody>
      </p:sp>
      <p:sp>
        <p:nvSpPr>
          <p:cNvPr id="27" name="Citát 4 – text"/>
          <p:cNvSpPr txBox="1"/>
          <p:nvPr/>
        </p:nvSpPr>
        <p:spPr>
          <a:xfrm>
            <a:off x="2413000" y="4973042"/>
            <a:ext cx="3530600" cy="9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Draghiho správy ukazujú problém s produktivitou. Ušiel nám vlak v mnohých pokročilých technológiách.</a:t>
            </a:r>
            <a:endParaRPr lang="en-US" sz="1350" dirty="0"/>
          </a:p>
        </p:txBody>
      </p:sp>
      <p:sp>
        <p:nvSpPr>
          <p:cNvPr id="28" name="Citát 4 – meno"/>
          <p:cNvSpPr txBox="1"/>
          <p:nvPr/>
        </p:nvSpPr>
        <p:spPr>
          <a:xfrm>
            <a:off x="2413000" y="5829300"/>
            <a:ext cx="353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Milan Vaňko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Národná banka Slovenska, o Európe</a:t>
            </a:r>
            <a:endParaRPr lang="en-US" sz="1050" dirty="0"/>
          </a:p>
        </p:txBody>
      </p:sp>
      <p:sp>
        <p:nvSpPr>
          <p:cNvPr id="29" name="Citát 5 – linka"/>
          <p:cNvSpPr/>
          <p:nvPr/>
        </p:nvSpPr>
        <p:spPr>
          <a:xfrm>
            <a:off x="6248400" y="4426942"/>
            <a:ext cx="4546600" cy="0"/>
          </a:xfrm>
          <a:prstGeom prst="line">
            <a:avLst/>
          </a:prstGeom>
          <a:noFill/>
          <a:ln w="19050">
            <a:solidFill>
              <a:srgbClr val="E2DDD2"/>
            </a:solidFill>
            <a:prstDash val="solid"/>
          </a:ln>
        </p:spPr>
      </p:sp>
      <p:sp>
        <p:nvSpPr>
          <p:cNvPr id="30" name="Citát 5 – fotka"/>
          <p:cNvSpPr/>
          <p:nvPr/>
        </p:nvSpPr>
        <p:spPr>
          <a:xfrm>
            <a:off x="6248400" y="4579342"/>
            <a:ext cx="863600" cy="863600"/>
          </a:xfrm>
          <a:prstGeom prst="ellipse">
            <a:avLst/>
          </a:prstGeom>
          <a:solidFill>
            <a:srgbClr val="E7E1D4"/>
          </a:solidFill>
          <a:ln w="12700">
            <a:solidFill>
              <a:srgbClr val="B9B09E"/>
            </a:solidFill>
            <a:prstDash val="dash"/>
          </a:ln>
        </p:spPr>
      </p:sp>
      <p:sp>
        <p:nvSpPr>
          <p:cNvPr id="31" name="Citát 5 – iniciály"/>
          <p:cNvSpPr txBox="1"/>
          <p:nvPr/>
        </p:nvSpPr>
        <p:spPr>
          <a:xfrm>
            <a:off x="6248400" y="4579342"/>
            <a:ext cx="863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907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KB</a:t>
            </a:r>
            <a:endParaRPr lang="en-US" sz="1700" dirty="0"/>
          </a:p>
        </p:txBody>
      </p:sp>
      <p:sp>
        <p:nvSpPr>
          <p:cNvPr id="32" name="Citát 5 – úvodzovky"/>
          <p:cNvSpPr txBox="1"/>
          <p:nvPr/>
        </p:nvSpPr>
        <p:spPr>
          <a:xfrm>
            <a:off x="7226300" y="4147542"/>
            <a:ext cx="7620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0" b="1" dirty="0">
                <a:solidFill>
                  <a:srgbClr val="C4472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„</a:t>
            </a:r>
            <a:endParaRPr lang="en-US" sz="8500" dirty="0"/>
          </a:p>
        </p:txBody>
      </p:sp>
      <p:sp>
        <p:nvSpPr>
          <p:cNvPr id="33" name="Citát 5 – text"/>
          <p:cNvSpPr txBox="1"/>
          <p:nvPr/>
        </p:nvSpPr>
        <p:spPr>
          <a:xfrm>
            <a:off x="7264400" y="4973042"/>
            <a:ext cx="3530600" cy="912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Keby sme mali takú podnikovú demografiu ako Nemecko, boli by sme o 30 percent produktívnejší.</a:t>
            </a:r>
            <a:endParaRPr lang="en-US" sz="1350" dirty="0"/>
          </a:p>
        </p:txBody>
      </p:sp>
      <p:sp>
        <p:nvSpPr>
          <p:cNvPr id="34" name="Citát 5 – meno"/>
          <p:cNvSpPr txBox="1"/>
          <p:nvPr/>
        </p:nvSpPr>
        <p:spPr>
          <a:xfrm>
            <a:off x="7264400" y="5829300"/>
            <a:ext cx="353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F3A4A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Karol Boroš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Inštitút hospodárskych analýz ministerstva hospodárstva</a:t>
            </a:r>
            <a:endParaRPr lang="en-US" sz="1050" dirty="0"/>
          </a:p>
        </p:txBody>
      </p:sp>
      <p:sp>
        <p:nvSpPr>
          <p:cNvPr id="35" name="Pätička – linka"/>
          <p:cNvSpPr/>
          <p:nvPr/>
        </p:nvSpPr>
        <p:spPr>
          <a:xfrm>
            <a:off x="1397000" y="6305550"/>
            <a:ext cx="9398000" cy="0"/>
          </a:xfrm>
          <a:prstGeom prst="line">
            <a:avLst/>
          </a:prstGeom>
          <a:noFill/>
          <a:ln w="9525">
            <a:solidFill>
              <a:srgbClr val="E2DDD2"/>
            </a:solidFill>
            <a:prstDash val="solid"/>
          </a:ln>
        </p:spPr>
      </p:sp>
      <p:sp>
        <p:nvSpPr>
          <p:cNvPr id="36" name="Pätička – poznámka"/>
          <p:cNvSpPr txBox="1"/>
          <p:nvPr/>
        </p:nvSpPr>
        <p:spPr>
          <a:xfrm>
            <a:off x="1397000" y="6388100"/>
            <a:ext cx="444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Citáty sú upravené z prepisu diskusie.</a:t>
            </a:r>
            <a:endParaRPr lang="en-US" sz="950" dirty="0"/>
          </a:p>
        </p:txBody>
      </p:sp>
      <p:sp>
        <p:nvSpPr>
          <p:cNvPr id="37" name="Pätička – podpis"/>
          <p:cNvSpPr txBox="1"/>
          <p:nvPr/>
        </p:nvSpPr>
        <p:spPr>
          <a:xfrm>
            <a:off x="8255000" y="63754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euBrief, Claude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Čo zaznelo na euBrief fóre</dc:title>
  <dc:subject>PptxGenJS Presentation</dc:subject>
  <dc:creator>PptxGenJS</dc:creator>
  <cp:lastModifiedBy>PptxGenJS</cp:lastModifiedBy>
  <cp:revision>1</cp:revision>
  <dcterms:created xsi:type="dcterms:W3CDTF">2026-10-07T15:07:28Z</dcterms:created>
  <dcterms:modified xsi:type="dcterms:W3CDTF">2026-10-07T15:07:28Z</dcterms:modified>
</cp:coreProperties>
</file>